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48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9.jp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046720" y="548640"/>
            <a:ext cx="3291840" cy="3291840"/>
          </a:xfrm>
          <a:prstGeom prst="ellipse">
            <a:avLst/>
          </a:prstGeom>
          <a:solidFill>
            <a:srgbClr val="0F766E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052560" y="3383280"/>
            <a:ext cx="2377440" cy="2377440"/>
          </a:xfrm>
          <a:prstGeom prst="ellipse">
            <a:avLst/>
          </a:prstGeom>
          <a:solidFill>
            <a:srgbClr val="1D4ED8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68580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Keypoint-Guided Gaussian Segmentation + CLIP-LoRA Pipeline for Injury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6217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Computer Vision Project Presentation (IT 420/322)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834640"/>
            <a:ext cx="621792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Kush Garg | KG-001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Sahil | SA-002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Shivansh | SH-003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Uvais | UV-004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074920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2E8F0"/>
                </a:solidFill>
              </a:defRPr>
            </a:pPr>
            <a:r>
              <a:t>GitHub: https://github.com/Kush2210/CLIP-LoRA-Pose2Injury</a:t>
            </a:r>
          </a:p>
        </p:txBody>
      </p:sp>
      <p:pic>
        <p:nvPicPr>
          <p:cNvPr id="8" name="Picture 7" descr="001_repo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777240"/>
            <a:ext cx="420624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73152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45720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E2E8F0"/>
                </a:solidFill>
              </a:defRPr>
            </a:pPr>
            <a:r>
              <a:t>What the project solves and why it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5669280" cy="5120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2000">
                <a:solidFill>
                  <a:srgbClr val="1E293B"/>
                </a:solidFill>
              </a:defRPr>
            </a:pPr>
            <a:r>
              <a:t>Goal: detect a person, focus on an informative limb region, and classify injury condition from images.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2000">
                <a:solidFill>
                  <a:srgbClr val="1E293B"/>
                </a:solidFill>
              </a:defRPr>
            </a:pPr>
            <a:r>
              <a:t>Motivation: manual injury inspection from visual data is slow and inconsistent in emergency-style scenarios.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2000">
                <a:solidFill>
                  <a:srgbClr val="1E293B"/>
                </a:solidFill>
              </a:defRPr>
            </a:pPr>
            <a:r>
              <a:t>Computer Vision relevance: the pipeline combines pose estimation, region-focused preprocessing, segmentation-style masking, and image classification.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2000">
                <a:solidFill>
                  <a:srgbClr val="1E293B"/>
                </a:solidFill>
              </a:defRPr>
            </a:pPr>
            <a:r>
              <a:t>Project objective: use body keypoints to guide Gaussian masking and use CLIP-LoRA for limb-condition prediction.</a:t>
            </a:r>
          </a:p>
        </p:txBody>
      </p:sp>
      <p:pic>
        <p:nvPicPr>
          <p:cNvPr id="7" name="Picture 6" descr="sample_group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212080" cy="4663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Teacher guideline match: problem statement + project relevance to Computer Vision.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73152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Workflow / Flowchart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45720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E2E8F0"/>
                </a:solidFill>
              </a:defRPr>
            </a:pPr>
            <a:r>
              <a:t>Complete pipeline from input to final outputs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5486400" cy="5120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600">
                <a:solidFill>
                  <a:srgbClr val="1E293B"/>
                </a:solidFill>
              </a:defRPr>
            </a:pPr>
            <a:r>
              <a:t>1. Collect image inputs from `testing/` and the TromNet-style dataset used by the CLIP-LoRA code.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600">
                <a:solidFill>
                  <a:srgbClr val="1E293B"/>
                </a:solidFill>
              </a:defRPr>
            </a:pPr>
            <a:r>
              <a:t>2. Run YOLOv8 pose estimation to extract 17 body keypoints.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600">
                <a:solidFill>
                  <a:srgbClr val="1E293B"/>
                </a:solidFill>
              </a:defRPr>
            </a:pPr>
            <a:r>
              <a:t>3. Select a limb path from arm or leg keypoint triplets.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600">
                <a:solidFill>
                  <a:srgbClr val="1E293B"/>
                </a:solidFill>
              </a:defRPr>
            </a:pPr>
            <a:r>
              <a:t>4. Compute Gaussian spread from inter-keypoint distance and build a splatted soft mask.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600">
                <a:solidFill>
                  <a:srgbClr val="1E293B"/>
                </a:solidFill>
              </a:defRPr>
            </a:pPr>
            <a:r>
              <a:t>5. Generate a masked limb-focused image for classification.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600">
                <a:solidFill>
                  <a:srgbClr val="1E293B"/>
                </a:solidFill>
              </a:defRPr>
            </a:pPr>
            <a:r>
              <a:t>6. Run CLIP and CLIP-LoRA inference with prompt-based class text features.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600">
                <a:solidFill>
                  <a:srgbClr val="1E293B"/>
                </a:solidFill>
              </a:defRPr>
            </a:pPr>
            <a:r>
              <a:t>7. Export CSV files, report panels, proof images, and evaluation plots.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194560"/>
            <a:ext cx="914400" cy="530352"/>
          </a:xfrm>
          <a:prstGeom prst="round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72200" y="2340864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Dataset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3291839"/>
            <a:ext cx="914400" cy="530352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95160" y="3438144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Pose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2194560"/>
            <a:ext cx="914400" cy="530352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18120" y="2340864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Limb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3291839"/>
            <a:ext cx="914400" cy="530352"/>
          </a:xfrm>
          <a:prstGeom prst="round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41080" y="3438144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Gaussian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18320" y="2194560"/>
            <a:ext cx="914400" cy="530352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64040" y="2340864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Mask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0" y="3291839"/>
            <a:ext cx="914400" cy="530352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287000" y="3438144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CLIP-LoRA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064240" y="2194560"/>
            <a:ext cx="914400" cy="530352"/>
          </a:xfrm>
          <a:prstGeom prst="round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109960" y="2340864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Results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Teacher guideline match: dataset collection, preprocessing, model/algorithm, tasks performed, and final output flow.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73152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Dataset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45720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E2E8F0"/>
                </a:solidFill>
              </a:defRPr>
            </a:pPr>
            <a:r>
              <a:t>Structure, counts, and effective features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88720"/>
            <a:ext cx="35661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188720"/>
            <a:ext cx="3566160" cy="292608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225296"/>
            <a:ext cx="3291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Dataset 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572768"/>
            <a:ext cx="3236976" cy="1444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TromNet-style classes: injury, no_injury, injury_and_amputation.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Training images in repo: 3 total, with 1 image per class.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Test frames in repo: 108 images under CLIP-LoRA/DATASET/test/frames.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188720"/>
            <a:ext cx="35661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188720"/>
            <a:ext cx="3566160" cy="292608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0560" y="1225296"/>
            <a:ext cx="3291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Demo Evaluation 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1572768"/>
            <a:ext cx="3236976" cy="1444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Folder used for report generation: testing/.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Images used: 001.png, 002.png, 003.png.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Current labels in draft PPT are provisional demo labels.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188720"/>
            <a:ext cx="35204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188720"/>
            <a:ext cx="3520440" cy="292608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12252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Effective Attributes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1572768"/>
            <a:ext cx="3191256" cy="1444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RGB image input.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17 pose keypoints from YOLOv8.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3 selected limb points.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Gaussian mask and 3-class probability output.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6576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800">
                <a:solidFill>
                  <a:srgbClr val="1E293B"/>
                </a:solidFill>
              </a:defRPr>
            </a:pPr>
            <a:r>
              <a:t>Feature perspective: 17 human joints define geometry and CLIP/LoRA returns 3 semantic class scores.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800">
                <a:solidFill>
                  <a:srgbClr val="1E293B"/>
                </a:solidFill>
              </a:defRPr>
            </a:pPr>
            <a:r>
              <a:t>This project is inference-focused; no new train/validation benchmark protocol is implemented in the current repo.</a:t>
            </a:r>
          </a:p>
        </p:txBody>
      </p:sp>
      <p:pic>
        <p:nvPicPr>
          <p:cNvPr id="19" name="Picture 18" descr="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572000"/>
            <a:ext cx="3840480" cy="1645920"/>
          </a:xfrm>
          <a:prstGeom prst="rect">
            <a:avLst/>
          </a:prstGeom>
        </p:spPr>
      </p:pic>
      <p:pic>
        <p:nvPicPr>
          <p:cNvPr id="20" name="Picture 19" descr="sample_predic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572000"/>
            <a:ext cx="5943600" cy="16459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5720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Teacher guideline match: dataset source/structure, counts, attributes, and dataset statistics.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73152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45720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E2E8F0"/>
                </a:solidFill>
              </a:defRPr>
            </a:pPr>
            <a:r>
              <a:t>Before-vs-after image transformation used before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5212080" cy="5120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600">
                <a:solidFill>
                  <a:srgbClr val="1E293B"/>
                </a:solidFill>
              </a:defRPr>
            </a:pPr>
            <a:r>
              <a:t>Preprocessing is applied before classification.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600">
                <a:solidFill>
                  <a:srgbClr val="1E293B"/>
                </a:solidFill>
              </a:defRPr>
            </a:pPr>
            <a:r>
              <a:t>Input image is decoded and converted to RGB.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600">
                <a:solidFill>
                  <a:srgbClr val="1E293B"/>
                </a:solidFill>
              </a:defRPr>
            </a:pPr>
            <a:r>
              <a:t>YOLOv8 pose extracts body joints from the image.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600">
                <a:solidFill>
                  <a:srgbClr val="1E293B"/>
                </a:solidFill>
              </a:defRPr>
            </a:pPr>
            <a:r>
              <a:t>A limb-specific keypoint triplet is selected from arm or leg joints.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600">
                <a:solidFill>
                  <a:srgbClr val="1E293B"/>
                </a:solidFill>
              </a:defRPr>
            </a:pPr>
            <a:r>
              <a:t>Sigma is computed from adjacent keypoint distance with scale factor 0.15 and minimum value 1.0.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600">
                <a:solidFill>
                  <a:srgbClr val="1E293B"/>
                </a:solidFill>
              </a:defRPr>
            </a:pPr>
            <a:r>
              <a:t>Gaussian kernels are placed around joints and midpoints to build a smooth limb-focused mask.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600">
                <a:solidFill>
                  <a:srgbClr val="1E293B"/>
                </a:solidFill>
              </a:defRPr>
            </a:pPr>
            <a:r>
              <a:t>The original full-body image becomes a masked limb-focused image used for inference.</a:t>
            </a:r>
          </a:p>
        </p:txBody>
      </p:sp>
      <p:pic>
        <p:nvPicPr>
          <p:cNvPr id="7" name="Picture 6" descr="sample_group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234440"/>
            <a:ext cx="5486400" cy="5029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Teacher guideline match: exact preprocessing techniques + sample original vs processed image.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73152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Tasks Performed and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45720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E2E8F0"/>
                </a:solidFill>
              </a:defRPr>
            </a:pPr>
            <a:r>
              <a:t>CV tasks, methods, libraries, and development environment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27432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234440"/>
            <a:ext cx="2743200" cy="292608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271016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Tasks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618488"/>
            <a:ext cx="2414016" cy="4005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Detection: human pose/keypoint extraction.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Segmentation-style masking: Gaussian splatting and bitwise masking.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Classification: CLIP and CLIP-LoRA prediction.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Feature extraction: keypoints and CLIP embeddings.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1234440"/>
            <a:ext cx="27432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11880" y="1234440"/>
            <a:ext cx="2743200" cy="292608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49040" y="1271016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Algorithms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76472" y="1618488"/>
            <a:ext cx="2414016" cy="4005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YOLOv8 pose for 17-keypoint detection.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Distance-based Gaussian splatting for limb emphasis.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CLIP ViT-B/16 image-text similarity.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LoRA adapters on attention projections.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1234440"/>
            <a:ext cx="22860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83680" y="1234440"/>
            <a:ext cx="2286000" cy="292608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20840" y="1271016"/>
            <a:ext cx="2011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1618488"/>
            <a:ext cx="1956816" cy="4005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Python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PyTorch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OpenCV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Matplotlib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Ultralytics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PIL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NumPy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234440"/>
            <a:ext cx="24688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098280" y="1234440"/>
            <a:ext cx="2468880" cy="292608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35440" y="1271016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Environment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62872" y="1618488"/>
            <a:ext cx="2139696" cy="4005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Local Python environment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VS Code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Notebook support through cv_project_usage.ipynb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GitHub-based code submission workflow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Teacher guideline match: tasks, methods, libraries, language, and IDE/environment.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73152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Algorithm / Method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45720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E2E8F0"/>
                </a:solidFill>
              </a:defRPr>
            </a:pPr>
            <a:r>
              <a:t>How the pipeline works internally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8016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280160"/>
            <a:ext cx="5394960" cy="292608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316736"/>
            <a:ext cx="5120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Pose + Gaussian Region 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664207"/>
            <a:ext cx="5065776" cy="4005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YOLOv8 predicts 17 body keypoints.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A 3-point limb chain is selected for a target arm or leg.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Sigma is derived from inter-keypoint distance.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Gaussian kernels are placed at joints and midpoints.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The splatted map is thresholded to retain activated limb pixels.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280160"/>
            <a:ext cx="51663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60" y="1280160"/>
            <a:ext cx="5166360" cy="292608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316736"/>
            <a:ext cx="4892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CLIP-LoRA Semantic Classification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664207"/>
            <a:ext cx="4837176" cy="4005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The masked limb image is encoded by CLIP ViT-B/16.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Prompt-based text features are built for the three classes.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Image-text similarity logits are softmaxed into probabilities.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Pretrained LoRA adapters on q/k/v projections refine prediction.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Per-limb results are aggregated into image-level outputs.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Teacher guideline match: what task is done, what method is used, and how it works.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73152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Environment and Hyperparameters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45720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E2E8F0"/>
                </a:solidFill>
              </a:defRPr>
            </a:pPr>
            <a:r>
              <a:t>System specification and configuration used in the run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36576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234440"/>
            <a:ext cx="3657600" cy="292608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271016"/>
            <a:ext cx="3383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618488"/>
            <a:ext cx="3328416" cy="4279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Platform: macOS-26.3.1-x86_64-i386-64bit.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Python: 3.12.2.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PyTorch: 2.2.2.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Device: cpu.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Scaled dot-product attention: available.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234440"/>
            <a:ext cx="33832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26280" y="1234440"/>
            <a:ext cx="3383280" cy="292608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1271016"/>
            <a:ext cx="3108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Models and Classes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1618488"/>
            <a:ext cx="3054096" cy="4279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Pose model: yolov8n-pose.pt.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CLIP backbone: ViT-B/16.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Classes: injury, no_injury, injury_and_amputation.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Injury-score threshold: 0.38.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234440"/>
            <a:ext cx="34290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1234440"/>
            <a:ext cx="3429000" cy="292608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20" y="1271016"/>
            <a:ext cx="3154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LoRA Setup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1618488"/>
            <a:ext cx="3099816" cy="4279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Rank r = 2.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Alpha = 1.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Dropout = 0.25.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Params = q, k, v.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Position = all.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Encoder = both.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Dataset = tromnet.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Shots = 16, Seed = 1.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Teacher guideline match: system specification, language, and tuning parameters/hyperparameters.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73152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Numeric Results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45720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E2E8F0"/>
                </a:solidFill>
              </a:defRPr>
            </a:pPr>
            <a:r>
              <a:t>Compulsory metric summary for the current demo evaluation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3657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3657600" cy="292608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362456"/>
            <a:ext cx="3383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Overall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709928"/>
            <a:ext cx="3328416" cy="4005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Accuracy = 1.00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Precision = 0.33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Recall = 0.33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F1 Score = 0.33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Macro F1 = 0.33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Sensitivity = 0.33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Specificity = 0.67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Binary accuracy = 1.00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mAP = N/A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325880"/>
            <a:ext cx="3108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17720" y="1325880"/>
            <a:ext cx="3108960" cy="292608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0" y="1362456"/>
            <a:ext cx="2834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Evaluation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82312" y="1709928"/>
            <a:ext cx="2779776" cy="4005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Sample size: 3 demo images.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Artifacts generated from testing/.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Metrics are based on provisional labels for draft PPT preparation.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Use final ground-truth labels before formal submission if available.</a:t>
            </a:r>
          </a:p>
        </p:txBody>
      </p:sp>
      <p:pic>
        <p:nvPicPr>
          <p:cNvPr id="14" name="Picture 13" descr="metric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1417320"/>
            <a:ext cx="3291840" cy="2057400"/>
          </a:xfrm>
          <a:prstGeom prst="rect">
            <a:avLst/>
          </a:prstGeom>
        </p:spPr>
      </p:pic>
      <p:pic>
        <p:nvPicPr>
          <p:cNvPr id="15" name="Picture 14" descr="class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3703320"/>
            <a:ext cx="3291840" cy="19202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720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Teacher guideline match: compulsory numeric table including accuracy, precision, recall, F1, macro F1, sensitivity, specificity, and applicable note for mAP.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73152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Graphical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45720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E2E8F0"/>
                </a:solidFill>
              </a:defRPr>
            </a:pPr>
            <a:r>
              <a:t>Plots generated directly from the project outputs</a:t>
            </a:r>
          </a:p>
        </p:txBody>
      </p:sp>
      <p:pic>
        <p:nvPicPr>
          <p:cNvPr id="6" name="Picture 5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2743200" cy="2103120"/>
          </a:xfrm>
          <a:prstGeom prst="rect">
            <a:avLst/>
          </a:prstGeom>
        </p:spPr>
      </p:pic>
      <p:pic>
        <p:nvPicPr>
          <p:cNvPr id="7" name="Picture 6" descr="roc_ov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1234440"/>
            <a:ext cx="2743200" cy="2103120"/>
          </a:xfrm>
          <a:prstGeom prst="rect">
            <a:avLst/>
          </a:prstGeom>
        </p:spPr>
      </p:pic>
      <p:pic>
        <p:nvPicPr>
          <p:cNvPr id="8" name="Picture 7" descr="class_distrib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234440"/>
            <a:ext cx="2560320" cy="2103120"/>
          </a:xfrm>
          <a:prstGeom prst="rect">
            <a:avLst/>
          </a:prstGeom>
        </p:spPr>
      </p:pic>
      <p:pic>
        <p:nvPicPr>
          <p:cNvPr id="9" name="Picture 8" descr="metrics_b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0" y="1234440"/>
            <a:ext cx="2194560" cy="2103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3886200"/>
            <a:ext cx="107899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800">
                <a:solidFill>
                  <a:srgbClr val="1E293B"/>
                </a:solidFill>
              </a:defRPr>
            </a:pPr>
            <a:r>
              <a:t>Confusion matrix, ROC OvR, class distribution, and metric summary plots were generated automatically by the evaluation script.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800">
                <a:solidFill>
                  <a:srgbClr val="1E293B"/>
                </a:solidFill>
              </a:defRPr>
            </a:pPr>
            <a:r>
              <a:t>These figures satisfy the graphical-results requirement from the teacher guidelines.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800">
                <a:solidFill>
                  <a:srgbClr val="1E293B"/>
                </a:solidFill>
              </a:defRPr>
            </a:pPr>
            <a:r>
              <a:t>The current run is a draft/demo evaluation using the present label file in the repo.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Teacher guideline match: ROC curve, confusion matrix, and other relevant graphs.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73152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Output Samples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45720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E2E8F0"/>
                </a:solidFill>
              </a:defRPr>
            </a:pPr>
            <a:r>
              <a:t>Final output panels and prediction screenshots</a:t>
            </a:r>
          </a:p>
        </p:txBody>
      </p:sp>
      <p:pic>
        <p:nvPicPr>
          <p:cNvPr id="6" name="Picture 5" descr="001_repo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3657600" cy="4800600"/>
          </a:xfrm>
          <a:prstGeom prst="rect">
            <a:avLst/>
          </a:prstGeom>
        </p:spPr>
      </p:pic>
      <p:pic>
        <p:nvPicPr>
          <p:cNvPr id="7" name="Picture 6" descr="002_repor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234440"/>
            <a:ext cx="3657600" cy="2286000"/>
          </a:xfrm>
          <a:prstGeom prst="rect">
            <a:avLst/>
          </a:prstGeom>
        </p:spPr>
      </p:pic>
      <p:pic>
        <p:nvPicPr>
          <p:cNvPr id="8" name="Picture 7" descr="003_repor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3749039"/>
            <a:ext cx="3657600" cy="2286000"/>
          </a:xfrm>
          <a:prstGeom prst="rect">
            <a:avLst/>
          </a:prstGeom>
        </p:spPr>
      </p:pic>
      <p:pic>
        <p:nvPicPr>
          <p:cNvPr id="9" name="Picture 8" descr="sample_predicti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234440"/>
            <a:ext cx="2743200" cy="2103120"/>
          </a:xfrm>
          <a:prstGeom prst="rect">
            <a:avLst/>
          </a:prstGeom>
        </p:spPr>
      </p:pic>
      <p:pic>
        <p:nvPicPr>
          <p:cNvPr id="10" name="Picture 9" descr="sample_group_pane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3611880"/>
            <a:ext cx="2743200" cy="24231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Teacher guideline match: final output/prediction screenshots and before-vs-after evidence.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73152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Program Proof and Subject Relevance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45720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E2E8F0"/>
                </a:solidFill>
              </a:defRPr>
            </a:pPr>
            <a:r>
              <a:t>Code evidence, repository, and syllabus connection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3749039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234440"/>
            <a:ext cx="3749039" cy="292608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271016"/>
            <a:ext cx="3474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Program Proof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618488"/>
            <a:ext cx="3419856" cy="4187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Source files used for claimed methods: pose_gaussian_only.py, run_pose_then_clip.py, batch_testing_report.py, and CLIP-LoRA/infer_single_wound.py.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Result evidence files: summary.csv, part_probabilities.csv, metrics_summary.json, and generated plots.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234440"/>
            <a:ext cx="301752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0" y="1234440"/>
            <a:ext cx="3017520" cy="292608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09160" y="1271016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GitHub Submission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1618488"/>
            <a:ext cx="2688336" cy="4187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Repository: https://github.com/Kush2210/CLIP-LoRA-Pose2Injury.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The repo contains source code, generated artifacts, README instructions, and evaluation outputs.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1234440"/>
            <a:ext cx="3749039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818120" y="1234440"/>
            <a:ext cx="3749039" cy="292608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80" y="1271016"/>
            <a:ext cx="3474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CV Relevance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82712" y="1618488"/>
            <a:ext cx="3419856" cy="4187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Pose estimation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Image preprocessing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Feature extraction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Segmentation-style masking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Image classification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Model-based visual inference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Teacher guideline match: compulsory program proof + project relevance to the subject.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73152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Contribution of Each 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45720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E2E8F0"/>
                </a:solidFill>
              </a:defRPr>
            </a:pPr>
            <a:r>
              <a:t>Team roles for the end-to-end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65176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2651760" cy="292608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08176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Kush Garg | KG-001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755648"/>
            <a:ext cx="2322576" cy="38221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Project integration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Batch report pipeline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GitHub maintenance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Final presentation assembly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1371600"/>
            <a:ext cx="265176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11880" y="1371600"/>
            <a:ext cx="2651760" cy="292608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49040" y="1408176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Sahil | SA-002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76472" y="1755648"/>
            <a:ext cx="2322576" cy="38221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Pose-estimation stage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Limb selection logic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YOLO-based preprocessing flow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1371600"/>
            <a:ext cx="265176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92240" y="1371600"/>
            <a:ext cx="2651760" cy="292608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29400" y="1408176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Shivansh | SH-003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56831" y="1755648"/>
            <a:ext cx="2322576" cy="38221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CLIP-LoRA setup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Prompt-based inference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Checkpoint integration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1371600"/>
            <a:ext cx="21031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372600" y="1371600"/>
            <a:ext cx="2103120" cy="292608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0" y="1408176"/>
            <a:ext cx="182879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Uvais | UV-004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37192" y="1755648"/>
            <a:ext cx="1773936" cy="38221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Evaluation artifacts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Graphs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Documentation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Report formatting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Teacher guideline match: clear contribution mapping with names and roll numbers.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73152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45720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E2E8F0"/>
                </a:solidFill>
              </a:defRPr>
            </a:pPr>
            <a:r>
              <a:t>Related works and project repository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7498079" cy="5120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700">
                <a:solidFill>
                  <a:srgbClr val="FFFFFF"/>
                </a:solidFill>
              </a:defRPr>
            </a:pPr>
            <a:r>
              <a:t>OpenPose: Realtime Multi-Person 2D Pose Estimation using Part Affinity Fields | Cao et al. | 2019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700">
                <a:solidFill>
                  <a:srgbClr val="FFFFFF"/>
                </a:solidFill>
              </a:defRPr>
            </a:pPr>
            <a:r>
              <a:t>Simple Baselines for Human Pose Estimation and Tracking | Xiao et al. | 2018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700">
                <a:solidFill>
                  <a:srgbClr val="FFFFFF"/>
                </a:solidFill>
              </a:defRPr>
            </a:pPr>
            <a:r>
              <a:t>Deep High-Resolution Representation Learning for Human Pose Estimation | Sun et al. | 2019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700">
                <a:solidFill>
                  <a:srgbClr val="FFFFFF"/>
                </a:solidFill>
              </a:defRPr>
            </a:pPr>
            <a:r>
              <a:t>Learning Transferable Visual Models From Natural Language Supervision (CLIP) | Radford et al. | 2021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700">
                <a:solidFill>
                  <a:srgbClr val="FFFFFF"/>
                </a:solidFill>
              </a:defRPr>
            </a:pPr>
            <a:r>
              <a:t>LoRA: Low-Rank Adaptation of Large Language Models | Hu et al. | 2021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700">
                <a:solidFill>
                  <a:srgbClr val="FFFFFF"/>
                </a:solidFill>
              </a:defRPr>
            </a:pPr>
            <a:r>
              <a:t>CoOp: Learning to Prompt for Vision-Language Models | Zhou et al. | 2022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700">
                <a:solidFill>
                  <a:srgbClr val="FFFFFF"/>
                </a:solidFill>
              </a:defRPr>
            </a:pPr>
            <a:r>
              <a:t>Tip-Adapter: Training-free CLIP-Adapter for Better Vision-Language Modeling | Zhang et al. | 2022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700">
                <a:solidFill>
                  <a:srgbClr val="FFFFFF"/>
                </a:solidFill>
              </a:defRPr>
            </a:pPr>
            <a:r>
              <a:t>Project repository: https://github.com/Kush2210/CLIP-LoRA-Pose2Injury</a:t>
            </a:r>
          </a:p>
        </p:txBody>
      </p:sp>
      <p:pic>
        <p:nvPicPr>
          <p:cNvPr id="7" name="Picture 6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371600"/>
            <a:ext cx="2834640" cy="2240280"/>
          </a:xfrm>
          <a:prstGeom prst="rect">
            <a:avLst/>
          </a:prstGeom>
        </p:spPr>
      </p:pic>
      <p:pic>
        <p:nvPicPr>
          <p:cNvPr id="8" name="Picture 7" descr="roc_ov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3794760"/>
            <a:ext cx="2834640" cy="2240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Final slide as required by the teacher guidelines.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1474</Words>
  <Application>Microsoft Macintosh PowerPoint</Application>
  <PresentationFormat>Widescreen</PresentationFormat>
  <Paragraphs>198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KUSH GARG</cp:lastModifiedBy>
  <cp:revision>1</cp:revision>
  <dcterms:created xsi:type="dcterms:W3CDTF">2013-01-27T09:14:16Z</dcterms:created>
  <dcterms:modified xsi:type="dcterms:W3CDTF">2026-04-22T23:06:51Z</dcterms:modified>
  <cp:category/>
</cp:coreProperties>
</file>